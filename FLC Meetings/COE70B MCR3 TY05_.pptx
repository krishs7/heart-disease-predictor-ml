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E769B8-77CD-424B-9F00-A43D1B26919A}">
  <a:tblStyle styleId="{83E769B8-77CD-424B-9F00-A43D1B2691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561373a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561373a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561373a3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561373a3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06c8841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06c884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06c8841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06c8841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3ef0ae5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3ef0ae5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96000" y="983250"/>
            <a:ext cx="90480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Heart Disease Prediction Using Hybrid Models</a:t>
            </a:r>
            <a:r>
              <a:rPr lang="en" sz="3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chemeClr val="dk1"/>
                </a:solidFill>
              </a:rPr>
              <a:t>MCR3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71650" y="3202838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Progress Update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600" y="1872575"/>
            <a:ext cx="2298801" cy="22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6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Switching and Results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ModelTree vs. ModelForest Implementation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25" y="1560179"/>
            <a:ext cx="4446774" cy="278664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p1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275" y="1560175"/>
            <a:ext cx="4446774" cy="2786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303450" y="62100"/>
            <a:ext cx="253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Tabular Results</a:t>
            </a:r>
            <a:endParaRPr b="1"/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871050" y="144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{83E769B8-77CD-424B-9F00-A43D1B26919A}</a:tableStyleId>
              </a:tblPr>
              <a:tblGrid>
                <a:gridCol w="3454075"/>
                <a:gridCol w="911450"/>
                <a:gridCol w="890925"/>
                <a:gridCol w="942200"/>
                <a:gridCol w="8498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 - Class 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Accuracy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F1-Score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&amp; Model Tree w/10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76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77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&amp; Model Forest w/10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88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15"/>
          <p:cNvGraphicFramePr/>
          <p:nvPr/>
        </p:nvGraphicFramePr>
        <p:xfrm>
          <a:off x="871050" y="269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{83E769B8-77CD-424B-9F00-A43D1B26919A}</a:tableStyleId>
              </a:tblPr>
              <a:tblGrid>
                <a:gridCol w="3454075"/>
                <a:gridCol w="911450"/>
                <a:gridCol w="890925"/>
                <a:gridCol w="942200"/>
                <a:gridCol w="8498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 - Class 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Accuracy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F1-Score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&amp; Model Tree w/10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76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67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76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71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&amp; Model Forest w/10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88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86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61675" y="0"/>
            <a:ext cx="1125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Model Switching and Results - Further Analysis of ModelForest Implementation</a:t>
            </a:r>
            <a:endParaRPr b="1" sz="1820"/>
          </a:p>
        </p:txBody>
      </p:sp>
      <p:pic>
        <p:nvPicPr>
          <p:cNvPr id="81" name="Google Shape;81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550" y="547813"/>
            <a:ext cx="3710526" cy="229116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" name="Google Shape;82;p16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250" y="546215"/>
            <a:ext cx="3710526" cy="22943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16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8750" y="2838975"/>
            <a:ext cx="3566476" cy="22071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303450" y="62100"/>
            <a:ext cx="253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Tabular Results</a:t>
            </a:r>
            <a:endParaRPr b="1"/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1995488" y="79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{83E769B8-77CD-424B-9F00-A43D1B26919A}</a:tableStyleId>
              </a:tblPr>
              <a:tblGrid>
                <a:gridCol w="2390775"/>
                <a:gridCol w="952500"/>
                <a:gridCol w="952500"/>
                <a:gridCol w="857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 - Class 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F1-Score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w/10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91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w/5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89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89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89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w/2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89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87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" name="Google Shape;90;p17"/>
          <p:cNvGraphicFramePr/>
          <p:nvPr/>
        </p:nvGraphicFramePr>
        <p:xfrm>
          <a:off x="1995488" y="21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{83E769B8-77CD-424B-9F00-A43D1B26919A}</a:tableStyleId>
              </a:tblPr>
              <a:tblGrid>
                <a:gridCol w="2390775"/>
                <a:gridCol w="952500"/>
                <a:gridCol w="952500"/>
                <a:gridCol w="857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 - Class 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F1-Score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w/10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86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w/5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w/2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77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Google Shape;91;p17"/>
          <p:cNvGraphicFramePr/>
          <p:nvPr/>
        </p:nvGraphicFramePr>
        <p:xfrm>
          <a:off x="2900363" y="364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{83E769B8-77CD-424B-9F00-A43D1B26919A}</a:tableStyleId>
              </a:tblPr>
              <a:tblGrid>
                <a:gridCol w="2390775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Accuracy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w/10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88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w/5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87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Logistic Regression w/2 Sample Size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84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667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